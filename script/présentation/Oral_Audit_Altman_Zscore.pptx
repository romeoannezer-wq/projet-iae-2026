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61"/>
    <p:restoredTop sz="94635"/>
  </p:normalViewPr>
  <p:slideViewPr>
    <p:cSldViewPr snapToGrid="0" snapToObjects="1">
      <p:cViewPr varScale="1">
        <p:scale>
          <a:sx n="48" d="100"/>
          <a:sy n="48" d="100"/>
        </p:scale>
        <p:origin x="208" y="1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5DB545-5A0C-4430-B10D-9B6AB983BA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FECA03-B666-4BA1-9F21-B259592AF887}">
      <dgm:prSet/>
      <dgm:spPr/>
      <dgm:t>
        <a:bodyPr/>
        <a:lstStyle/>
        <a:p>
          <a:r>
            <a:rPr lang="fr-FR"/>
            <a:t>Automatisation du diagnostic financier</a:t>
          </a:r>
          <a:endParaRPr lang="en-US"/>
        </a:p>
      </dgm:t>
    </dgm:pt>
    <dgm:pt modelId="{329D1E3D-1CFA-46EA-8CD6-97193AD4F980}" type="parTrans" cxnId="{2DAB9DC1-557E-45B5-A7CC-F0992F1B1C41}">
      <dgm:prSet/>
      <dgm:spPr/>
      <dgm:t>
        <a:bodyPr/>
        <a:lstStyle/>
        <a:p>
          <a:endParaRPr lang="en-US"/>
        </a:p>
      </dgm:t>
    </dgm:pt>
    <dgm:pt modelId="{E641C1A2-4762-41A4-A0F5-8D549AD652C4}" type="sibTrans" cxnId="{2DAB9DC1-557E-45B5-A7CC-F0992F1B1C41}">
      <dgm:prSet/>
      <dgm:spPr/>
      <dgm:t>
        <a:bodyPr/>
        <a:lstStyle/>
        <a:p>
          <a:endParaRPr lang="en-US"/>
        </a:p>
      </dgm:t>
    </dgm:pt>
    <dgm:pt modelId="{AA746E7D-9C51-4B7B-A9EB-DDB48CC79278}">
      <dgm:prSet/>
      <dgm:spPr/>
      <dgm:t>
        <a:bodyPr/>
        <a:lstStyle/>
        <a:p>
          <a:r>
            <a:rPr lang="fr-FR"/>
            <a:t>Analyse comparative multi-entreprises</a:t>
          </a:r>
          <a:endParaRPr lang="en-US"/>
        </a:p>
      </dgm:t>
    </dgm:pt>
    <dgm:pt modelId="{F205DD63-841A-4530-806A-6610EB30C30F}" type="parTrans" cxnId="{55F7E873-162D-4065-BD37-99BAC6820CA2}">
      <dgm:prSet/>
      <dgm:spPr/>
      <dgm:t>
        <a:bodyPr/>
        <a:lstStyle/>
        <a:p>
          <a:endParaRPr lang="en-US"/>
        </a:p>
      </dgm:t>
    </dgm:pt>
    <dgm:pt modelId="{052E3EC6-45D4-496D-902C-9E80C5547877}" type="sibTrans" cxnId="{55F7E873-162D-4065-BD37-99BAC6820CA2}">
      <dgm:prSet/>
      <dgm:spPr/>
      <dgm:t>
        <a:bodyPr/>
        <a:lstStyle/>
        <a:p>
          <a:endParaRPr lang="en-US"/>
        </a:p>
      </dgm:t>
    </dgm:pt>
    <dgm:pt modelId="{89174880-BDB1-4545-83F7-AA304863DD68}">
      <dgm:prSet/>
      <dgm:spPr/>
      <dgm:t>
        <a:bodyPr/>
        <a:lstStyle/>
        <a:p>
          <a:r>
            <a:rPr lang="fr-FR"/>
            <a:t>Outil d’alerte pour l’auditeur</a:t>
          </a:r>
          <a:endParaRPr lang="en-US"/>
        </a:p>
      </dgm:t>
    </dgm:pt>
    <dgm:pt modelId="{2B1A1E34-E613-457C-8227-73EBE35D1C83}" type="parTrans" cxnId="{021BAAC9-2957-465D-8F33-42FC5D34790A}">
      <dgm:prSet/>
      <dgm:spPr/>
      <dgm:t>
        <a:bodyPr/>
        <a:lstStyle/>
        <a:p>
          <a:endParaRPr lang="en-US"/>
        </a:p>
      </dgm:t>
    </dgm:pt>
    <dgm:pt modelId="{296269E5-8E5C-4AA6-9767-DFFA4CC7BA1E}" type="sibTrans" cxnId="{021BAAC9-2957-465D-8F33-42FC5D34790A}">
      <dgm:prSet/>
      <dgm:spPr/>
      <dgm:t>
        <a:bodyPr/>
        <a:lstStyle/>
        <a:p>
          <a:endParaRPr lang="en-US"/>
        </a:p>
      </dgm:t>
    </dgm:pt>
    <dgm:pt modelId="{335D4356-E5B7-40C7-9341-C76A50579B53}">
      <dgm:prSet/>
      <dgm:spPr/>
      <dgm:t>
        <a:bodyPr/>
        <a:lstStyle/>
        <a:p>
          <a:r>
            <a:rPr lang="fr-FR"/>
            <a:t>L’expertise humaine reste centrale</a:t>
          </a:r>
          <a:endParaRPr lang="en-US"/>
        </a:p>
      </dgm:t>
    </dgm:pt>
    <dgm:pt modelId="{50F24F4D-71DD-4C3D-9834-6706FE4F007E}" type="parTrans" cxnId="{3A6621AA-3A34-4813-B6EE-DA3DD64FF12C}">
      <dgm:prSet/>
      <dgm:spPr/>
      <dgm:t>
        <a:bodyPr/>
        <a:lstStyle/>
        <a:p>
          <a:endParaRPr lang="en-US"/>
        </a:p>
      </dgm:t>
    </dgm:pt>
    <dgm:pt modelId="{9B045793-880B-44D2-82CD-8079E6C5C0DD}" type="sibTrans" cxnId="{3A6621AA-3A34-4813-B6EE-DA3DD64FF12C}">
      <dgm:prSet/>
      <dgm:spPr/>
      <dgm:t>
        <a:bodyPr/>
        <a:lstStyle/>
        <a:p>
          <a:endParaRPr lang="en-US"/>
        </a:p>
      </dgm:t>
    </dgm:pt>
    <dgm:pt modelId="{CAC6FA74-9BD2-F644-9C7A-DF22EF5D379C}" type="pres">
      <dgm:prSet presAssocID="{455DB545-5A0C-4430-B10D-9B6AB983BAFA}" presName="linear" presStyleCnt="0">
        <dgm:presLayoutVars>
          <dgm:animLvl val="lvl"/>
          <dgm:resizeHandles val="exact"/>
        </dgm:presLayoutVars>
      </dgm:prSet>
      <dgm:spPr/>
    </dgm:pt>
    <dgm:pt modelId="{2ED4ACBD-4457-444A-A59E-59DA21424487}" type="pres">
      <dgm:prSet presAssocID="{F9FECA03-B666-4BA1-9F21-B259592AF8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91F02FD-0482-C348-B493-596AB4714D1B}" type="pres">
      <dgm:prSet presAssocID="{E641C1A2-4762-41A4-A0F5-8D549AD652C4}" presName="spacer" presStyleCnt="0"/>
      <dgm:spPr/>
    </dgm:pt>
    <dgm:pt modelId="{36F7A71A-D018-F643-BB0E-9A14404F5AB0}" type="pres">
      <dgm:prSet presAssocID="{AA746E7D-9C51-4B7B-A9EB-DDB48CC792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B7C640-2365-C84F-8A27-08D6D5BD36AC}" type="pres">
      <dgm:prSet presAssocID="{052E3EC6-45D4-496D-902C-9E80C5547877}" presName="spacer" presStyleCnt="0"/>
      <dgm:spPr/>
    </dgm:pt>
    <dgm:pt modelId="{7B72A89E-C6FE-E241-884B-EB8884306F10}" type="pres">
      <dgm:prSet presAssocID="{89174880-BDB1-4545-83F7-AA304863DD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1859AC5-5409-824F-B16E-F3162096317B}" type="pres">
      <dgm:prSet presAssocID="{296269E5-8E5C-4AA6-9767-DFFA4CC7BA1E}" presName="spacer" presStyleCnt="0"/>
      <dgm:spPr/>
    </dgm:pt>
    <dgm:pt modelId="{9A0F7662-5FAA-8D4D-B769-7FFD7F43E0C6}" type="pres">
      <dgm:prSet presAssocID="{335D4356-E5B7-40C7-9341-C76A50579B5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5F7E873-162D-4065-BD37-99BAC6820CA2}" srcId="{455DB545-5A0C-4430-B10D-9B6AB983BAFA}" destId="{AA746E7D-9C51-4B7B-A9EB-DDB48CC79278}" srcOrd="1" destOrd="0" parTransId="{F205DD63-841A-4530-806A-6610EB30C30F}" sibTransId="{052E3EC6-45D4-496D-902C-9E80C5547877}"/>
    <dgm:cxn modelId="{3207A77A-3BBA-0649-9CD2-DD11C9059B03}" type="presOf" srcId="{F9FECA03-B666-4BA1-9F21-B259592AF887}" destId="{2ED4ACBD-4457-444A-A59E-59DA21424487}" srcOrd="0" destOrd="0" presId="urn:microsoft.com/office/officeart/2005/8/layout/vList2"/>
    <dgm:cxn modelId="{1AB93498-D090-CC43-9420-810D7F9CF1A2}" type="presOf" srcId="{AA746E7D-9C51-4B7B-A9EB-DDB48CC79278}" destId="{36F7A71A-D018-F643-BB0E-9A14404F5AB0}" srcOrd="0" destOrd="0" presId="urn:microsoft.com/office/officeart/2005/8/layout/vList2"/>
    <dgm:cxn modelId="{3A6621AA-3A34-4813-B6EE-DA3DD64FF12C}" srcId="{455DB545-5A0C-4430-B10D-9B6AB983BAFA}" destId="{335D4356-E5B7-40C7-9341-C76A50579B53}" srcOrd="3" destOrd="0" parTransId="{50F24F4D-71DD-4C3D-9834-6706FE4F007E}" sibTransId="{9B045793-880B-44D2-82CD-8079E6C5C0DD}"/>
    <dgm:cxn modelId="{FEFD0CAF-B99F-DA42-A189-497B71FE719F}" type="presOf" srcId="{455DB545-5A0C-4430-B10D-9B6AB983BAFA}" destId="{CAC6FA74-9BD2-F644-9C7A-DF22EF5D379C}" srcOrd="0" destOrd="0" presId="urn:microsoft.com/office/officeart/2005/8/layout/vList2"/>
    <dgm:cxn modelId="{2DAB9DC1-557E-45B5-A7CC-F0992F1B1C41}" srcId="{455DB545-5A0C-4430-B10D-9B6AB983BAFA}" destId="{F9FECA03-B666-4BA1-9F21-B259592AF887}" srcOrd="0" destOrd="0" parTransId="{329D1E3D-1CFA-46EA-8CD6-97193AD4F980}" sibTransId="{E641C1A2-4762-41A4-A0F5-8D549AD652C4}"/>
    <dgm:cxn modelId="{021BAAC9-2957-465D-8F33-42FC5D34790A}" srcId="{455DB545-5A0C-4430-B10D-9B6AB983BAFA}" destId="{89174880-BDB1-4545-83F7-AA304863DD68}" srcOrd="2" destOrd="0" parTransId="{2B1A1E34-E613-457C-8227-73EBE35D1C83}" sibTransId="{296269E5-8E5C-4AA6-9767-DFFA4CC7BA1E}"/>
    <dgm:cxn modelId="{84C9CEED-1176-A049-A6C6-1269CAB87A18}" type="presOf" srcId="{89174880-BDB1-4545-83F7-AA304863DD68}" destId="{7B72A89E-C6FE-E241-884B-EB8884306F10}" srcOrd="0" destOrd="0" presId="urn:microsoft.com/office/officeart/2005/8/layout/vList2"/>
    <dgm:cxn modelId="{2FB096F2-A262-8447-A699-A0BE7BEB66FD}" type="presOf" srcId="{335D4356-E5B7-40C7-9341-C76A50579B53}" destId="{9A0F7662-5FAA-8D4D-B769-7FFD7F43E0C6}" srcOrd="0" destOrd="0" presId="urn:microsoft.com/office/officeart/2005/8/layout/vList2"/>
    <dgm:cxn modelId="{1B4DD3A9-CD24-C541-97CB-E40AED300DDD}" type="presParOf" srcId="{CAC6FA74-9BD2-F644-9C7A-DF22EF5D379C}" destId="{2ED4ACBD-4457-444A-A59E-59DA21424487}" srcOrd="0" destOrd="0" presId="urn:microsoft.com/office/officeart/2005/8/layout/vList2"/>
    <dgm:cxn modelId="{4B9DB7D1-DDF7-9D4D-8069-E54C083D06E8}" type="presParOf" srcId="{CAC6FA74-9BD2-F644-9C7A-DF22EF5D379C}" destId="{E91F02FD-0482-C348-B493-596AB4714D1B}" srcOrd="1" destOrd="0" presId="urn:microsoft.com/office/officeart/2005/8/layout/vList2"/>
    <dgm:cxn modelId="{57D48279-3261-CA48-955F-B5A94782565E}" type="presParOf" srcId="{CAC6FA74-9BD2-F644-9C7A-DF22EF5D379C}" destId="{36F7A71A-D018-F643-BB0E-9A14404F5AB0}" srcOrd="2" destOrd="0" presId="urn:microsoft.com/office/officeart/2005/8/layout/vList2"/>
    <dgm:cxn modelId="{823796E7-84B2-5644-BD2F-221D625E8CDD}" type="presParOf" srcId="{CAC6FA74-9BD2-F644-9C7A-DF22EF5D379C}" destId="{34B7C640-2365-C84F-8A27-08D6D5BD36AC}" srcOrd="3" destOrd="0" presId="urn:microsoft.com/office/officeart/2005/8/layout/vList2"/>
    <dgm:cxn modelId="{86704F6D-5B7C-F748-995E-875942FE27CA}" type="presParOf" srcId="{CAC6FA74-9BD2-F644-9C7A-DF22EF5D379C}" destId="{7B72A89E-C6FE-E241-884B-EB8884306F10}" srcOrd="4" destOrd="0" presId="urn:microsoft.com/office/officeart/2005/8/layout/vList2"/>
    <dgm:cxn modelId="{0B8B760E-DCAE-E448-8F2E-9E91FA69CDD9}" type="presParOf" srcId="{CAC6FA74-9BD2-F644-9C7A-DF22EF5D379C}" destId="{61859AC5-5409-824F-B16E-F3162096317B}" srcOrd="5" destOrd="0" presId="urn:microsoft.com/office/officeart/2005/8/layout/vList2"/>
    <dgm:cxn modelId="{F468C5C2-1359-F249-B4B7-7CE409AF5469}" type="presParOf" srcId="{CAC6FA74-9BD2-F644-9C7A-DF22EF5D379C}" destId="{9A0F7662-5FAA-8D4D-B769-7FFD7F43E0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4ACBD-4457-444A-A59E-59DA21424487}">
      <dsp:nvSpPr>
        <dsp:cNvPr id="0" name=""/>
        <dsp:cNvSpPr/>
      </dsp:nvSpPr>
      <dsp:spPr>
        <a:xfrm>
          <a:off x="0" y="191249"/>
          <a:ext cx="78867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Automatisation du diagnostic financier</a:t>
          </a:r>
          <a:endParaRPr lang="en-US" sz="3700" kern="1200"/>
        </a:p>
      </dsp:txBody>
      <dsp:txXfrm>
        <a:off x="43321" y="234570"/>
        <a:ext cx="7800058" cy="800803"/>
      </dsp:txXfrm>
    </dsp:sp>
    <dsp:sp modelId="{36F7A71A-D018-F643-BB0E-9A14404F5AB0}">
      <dsp:nvSpPr>
        <dsp:cNvPr id="0" name=""/>
        <dsp:cNvSpPr/>
      </dsp:nvSpPr>
      <dsp:spPr>
        <a:xfrm>
          <a:off x="0" y="1185255"/>
          <a:ext cx="78867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Analyse comparative multi-entreprises</a:t>
          </a:r>
          <a:endParaRPr lang="en-US" sz="3700" kern="1200"/>
        </a:p>
      </dsp:txBody>
      <dsp:txXfrm>
        <a:off x="43321" y="1228576"/>
        <a:ext cx="7800058" cy="800803"/>
      </dsp:txXfrm>
    </dsp:sp>
    <dsp:sp modelId="{7B72A89E-C6FE-E241-884B-EB8884306F10}">
      <dsp:nvSpPr>
        <dsp:cNvPr id="0" name=""/>
        <dsp:cNvSpPr/>
      </dsp:nvSpPr>
      <dsp:spPr>
        <a:xfrm>
          <a:off x="0" y="2179260"/>
          <a:ext cx="78867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Outil d’alerte pour l’auditeur</a:t>
          </a:r>
          <a:endParaRPr lang="en-US" sz="3700" kern="1200"/>
        </a:p>
      </dsp:txBody>
      <dsp:txXfrm>
        <a:off x="43321" y="2222581"/>
        <a:ext cx="7800058" cy="800803"/>
      </dsp:txXfrm>
    </dsp:sp>
    <dsp:sp modelId="{9A0F7662-5FAA-8D4D-B769-7FFD7F43E0C6}">
      <dsp:nvSpPr>
        <dsp:cNvPr id="0" name=""/>
        <dsp:cNvSpPr/>
      </dsp:nvSpPr>
      <dsp:spPr>
        <a:xfrm>
          <a:off x="0" y="3173265"/>
          <a:ext cx="78867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L’expertise humaine reste centrale</a:t>
          </a:r>
          <a:endParaRPr lang="en-US" sz="3700" kern="1200"/>
        </a:p>
      </dsp:txBody>
      <dsp:txXfrm>
        <a:off x="43321" y="3216586"/>
        <a:ext cx="7800058" cy="80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000" dirty="0"/>
              <a:t>Automatisation du diagnostic de continuité d’exploitation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 lvl="1"/>
            <a:r>
              <a:rPr lang="fr-FR" sz="1700" dirty="0"/>
              <a:t>Norme ISA 570 – </a:t>
            </a:r>
            <a:r>
              <a:rPr lang="fr-FR" sz="1700" dirty="0" err="1"/>
              <a:t>Going</a:t>
            </a:r>
            <a:r>
              <a:rPr lang="fr-FR" sz="1700" dirty="0"/>
              <a:t> </a:t>
            </a:r>
            <a:r>
              <a:rPr lang="fr-FR" sz="1700" dirty="0" err="1"/>
              <a:t>Concern</a:t>
            </a:r>
            <a:endParaRPr lang="fr-FR" sz="1700" dirty="0"/>
          </a:p>
          <a:p>
            <a:pPr lvl="1"/>
            <a:r>
              <a:rPr lang="fr-FR" sz="1700" dirty="0"/>
              <a:t>Hausse des taux &amp; endettement post-COVID</a:t>
            </a:r>
          </a:p>
          <a:p>
            <a:pPr lvl="1"/>
            <a:r>
              <a:rPr lang="fr-FR" sz="1700" dirty="0"/>
              <a:t>Limites des analyses manuelles sous Excel</a:t>
            </a:r>
          </a:p>
          <a:p>
            <a:pPr lvl="1"/>
            <a:r>
              <a:rPr lang="fr-FR" sz="1700" dirty="0"/>
              <a:t>Objectif : </a:t>
            </a:r>
            <a:r>
              <a:rPr lang="fr-FR" sz="1700" dirty="0">
                <a:solidFill>
                  <a:srgbClr val="FF0000"/>
                </a:solidFill>
              </a:rPr>
              <a:t>automatiser le screening du risque financier</a:t>
            </a:r>
          </a:p>
        </p:txBody>
      </p:sp>
      <p:pic>
        <p:nvPicPr>
          <p:cNvPr id="5" name="Picture 4" descr="Loupe montrant des performances en baisse">
            <a:extLst>
              <a:ext uri="{FF2B5EF4-FFF2-40B4-BE49-F238E27FC236}">
                <a16:creationId xmlns:a16="http://schemas.microsoft.com/office/drawing/2014/main" id="{0B275602-E927-73E2-21DA-CEAA42553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9" r="45843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/>
              <a:t>Le modèle du Z-Score d’Altman</a:t>
            </a:r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5813"/>
            <a:ext cx="4168866" cy="4121150"/>
          </a:xfrm>
        </p:spPr>
        <p:txBody>
          <a:bodyPr>
            <a:normAutofit/>
          </a:bodyPr>
          <a:lstStyle/>
          <a:p>
            <a:pPr lvl="1"/>
            <a:r>
              <a:rPr lang="fr-FR" sz="1700" dirty="0"/>
              <a:t>Modèle académique de prédiction du risque de faillite</a:t>
            </a:r>
          </a:p>
          <a:p>
            <a:pPr lvl="1"/>
            <a:endParaRPr lang="fr-FR" sz="1700" dirty="0"/>
          </a:p>
          <a:p>
            <a:pPr lvl="1"/>
            <a:endParaRPr lang="fr-FR" sz="1700" dirty="0"/>
          </a:p>
          <a:p>
            <a:pPr lvl="1"/>
            <a:r>
              <a:rPr lang="fr-FR" sz="1700" dirty="0"/>
              <a:t>Combinaison de 5 ratios financiers</a:t>
            </a:r>
          </a:p>
          <a:p>
            <a:pPr lvl="1"/>
            <a:endParaRPr lang="fr-FR" sz="1700" dirty="0"/>
          </a:p>
          <a:p>
            <a:pPr lvl="1"/>
            <a:endParaRPr lang="fr-FR" sz="1700" dirty="0"/>
          </a:p>
          <a:p>
            <a:pPr lvl="1"/>
            <a:r>
              <a:rPr lang="fr-FR" sz="1700" dirty="0"/>
              <a:t>Score synthétique unique</a:t>
            </a:r>
          </a:p>
          <a:p>
            <a:pPr lvl="1"/>
            <a:endParaRPr lang="fr-FR" sz="1700" dirty="0"/>
          </a:p>
          <a:p>
            <a:pPr lvl="1"/>
            <a:endParaRPr lang="fr-FR" sz="1700" dirty="0"/>
          </a:p>
          <a:p>
            <a:pPr lvl="1"/>
            <a:r>
              <a:rPr lang="fr-FR" sz="1700" dirty="0"/>
              <a:t>Zones : Safe (&gt;2,99) – Grey – </a:t>
            </a:r>
            <a:r>
              <a:rPr lang="fr-FR" sz="1700" dirty="0" err="1"/>
              <a:t>Distress</a:t>
            </a:r>
            <a:r>
              <a:rPr lang="fr-FR" sz="1700" dirty="0"/>
              <a:t> (&lt;1,81)</a:t>
            </a:r>
          </a:p>
        </p:txBody>
      </p:sp>
      <p:sp>
        <p:nvSpPr>
          <p:cNvPr id="23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ique">
            <a:extLst>
              <a:ext uri="{FF2B5EF4-FFF2-40B4-BE49-F238E27FC236}">
                <a16:creationId xmlns:a16="http://schemas.microsoft.com/office/drawing/2014/main" id="{B408B487-5120-7156-7930-E0D22E96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58" r="34824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328512"/>
            <a:ext cx="3583791" cy="1628970"/>
          </a:xfrm>
        </p:spPr>
        <p:txBody>
          <a:bodyPr anchor="ctr">
            <a:normAutofit/>
          </a:bodyPr>
          <a:lstStyle/>
          <a:p>
            <a:r>
              <a:rPr lang="fr-FR" sz="3500"/>
              <a:t>Mise en œuvre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4" y="2500313"/>
            <a:ext cx="3886200" cy="3914775"/>
          </a:xfrm>
        </p:spPr>
        <p:txBody>
          <a:bodyPr anchor="ctr">
            <a:normAutofit/>
          </a:bodyPr>
          <a:lstStyle/>
          <a:p>
            <a:pPr lvl="1"/>
            <a:r>
              <a:rPr lang="fr-FR" sz="1700" dirty="0"/>
              <a:t>Extraction des données via API (</a:t>
            </a:r>
            <a:r>
              <a:rPr lang="fr-FR" sz="1700" dirty="0" err="1"/>
              <a:t>yfinance</a:t>
            </a:r>
            <a:r>
              <a:rPr lang="fr-FR" sz="1700" dirty="0"/>
              <a:t>)</a:t>
            </a:r>
          </a:p>
          <a:p>
            <a:pPr lvl="1"/>
            <a:r>
              <a:rPr lang="fr-FR" sz="1700" dirty="0"/>
              <a:t>Bilan + Compte de résultat + </a:t>
            </a:r>
            <a:r>
              <a:rPr lang="fr-FR" sz="1700" dirty="0" err="1"/>
              <a:t>Market</a:t>
            </a:r>
            <a:r>
              <a:rPr lang="fr-FR" sz="1700" dirty="0"/>
              <a:t> Cap</a:t>
            </a:r>
          </a:p>
          <a:p>
            <a:pPr lvl="1"/>
            <a:r>
              <a:rPr lang="fr-FR" sz="1700" dirty="0"/>
              <a:t>Calcul automatique des ratios X1 à X5</a:t>
            </a:r>
          </a:p>
          <a:p>
            <a:pPr lvl="1"/>
            <a:r>
              <a:rPr lang="fr-FR" sz="1700" dirty="0"/>
              <a:t>Génération du Z-Score et classification</a:t>
            </a:r>
          </a:p>
          <a:p>
            <a:pPr lvl="1"/>
            <a:r>
              <a:rPr lang="fr-FR" sz="1700" dirty="0"/>
              <a:t>Visualisation graphique comparative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fr-FR" sz="4700"/>
              <a:t>Résultats obtenus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988" y="2807208"/>
            <a:ext cx="2941964" cy="4050792"/>
          </a:xfrm>
        </p:spPr>
        <p:txBody>
          <a:bodyPr anchor="t">
            <a:normAutofit/>
          </a:bodyPr>
          <a:lstStyle/>
          <a:p>
            <a:pPr lvl="1">
              <a:lnSpc>
                <a:spcPct val="90000"/>
              </a:lnSpc>
            </a:pPr>
            <a:r>
              <a:rPr lang="fr-FR" sz="1500" dirty="0"/>
              <a:t>20 multinationales – 4 secteurs (Luxe, Aérien, Auto, </a:t>
            </a:r>
            <a:r>
              <a:rPr lang="fr-FR" sz="1500" dirty="0" err="1"/>
              <a:t>Retail</a:t>
            </a:r>
            <a:r>
              <a:rPr lang="fr-FR" sz="1500" dirty="0"/>
              <a:t>)</a:t>
            </a:r>
          </a:p>
          <a:p>
            <a:pPr lvl="1">
              <a:lnSpc>
                <a:spcPct val="90000"/>
              </a:lnSpc>
            </a:pPr>
            <a:r>
              <a:rPr lang="fr-FR" sz="1500" dirty="0"/>
              <a:t>Secteurs aérien et automobile majoritairement en zone rouge</a:t>
            </a:r>
          </a:p>
          <a:p>
            <a:pPr lvl="1">
              <a:lnSpc>
                <a:spcPct val="90000"/>
              </a:lnSpc>
            </a:pPr>
            <a:r>
              <a:rPr lang="fr-FR" sz="1500" dirty="0"/>
              <a:t>Delivery Hero : 0,23 – Renault : 0,56 – Air France : 0,86</a:t>
            </a:r>
          </a:p>
          <a:p>
            <a:pPr lvl="1">
              <a:lnSpc>
                <a:spcPct val="90000"/>
              </a:lnSpc>
            </a:pPr>
            <a:r>
              <a:rPr lang="fr-FR" sz="1500" dirty="0"/>
              <a:t>Luxe en zone verte (LVMH : 3,24 – Hermès : 43+)</a:t>
            </a:r>
          </a:p>
          <a:p>
            <a:pPr lvl="1">
              <a:lnSpc>
                <a:spcPct val="90000"/>
              </a:lnSpc>
            </a:pPr>
            <a:r>
              <a:rPr lang="fr-FR" sz="1500" dirty="0"/>
              <a:t>Forte dimension sectorielle observée</a:t>
            </a:r>
          </a:p>
        </p:txBody>
      </p:sp>
      <p:pic>
        <p:nvPicPr>
          <p:cNvPr id="6" name="Image 5" descr="Une image contenant texte, affichag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1CEA00C7-CEEA-6BFD-60E6-4955791AB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112" y="2120916"/>
            <a:ext cx="5771900" cy="41999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Limites du modèle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lvl="1"/>
            <a:r>
              <a:rPr lang="fr-FR" dirty="0"/>
              <a:t>Modèle initialement conçu pour entreprises industrielles</a:t>
            </a:r>
          </a:p>
          <a:p>
            <a:pPr lvl="1"/>
            <a:r>
              <a:rPr lang="fr-FR" dirty="0"/>
              <a:t>Biais sectoriel possible</a:t>
            </a:r>
          </a:p>
          <a:p>
            <a:pPr lvl="1"/>
            <a:r>
              <a:rPr lang="fr-FR" dirty="0"/>
              <a:t>Analyse basée sur une seule période comptable</a:t>
            </a:r>
          </a:p>
          <a:p>
            <a:pPr lvl="1"/>
            <a:r>
              <a:rPr lang="fr-FR" dirty="0"/>
              <a:t>Indicateur statistique ≠ prédiction certaine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fr-FR" sz="4700"/>
              <a:t>Conclusion &amp; Apport du projet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88646B0-60F7-0773-DFC5-8C491051DD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929384"/>
          <a:ext cx="78867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199</Words>
  <Application>Microsoft Macintosh PowerPoint</Application>
  <PresentationFormat>Affichage à l'écran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Automatisation du diagnostic de continuité d’exploitation</vt:lpstr>
      <vt:lpstr>Le modèle du Z-Score d’Altman</vt:lpstr>
      <vt:lpstr>Mise en œuvre technique</vt:lpstr>
      <vt:lpstr>Résultats obtenus</vt:lpstr>
      <vt:lpstr>Limites du modèle</vt:lpstr>
      <vt:lpstr>Conclusion &amp; Apport du projet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Romeo Annezer</cp:lastModifiedBy>
  <cp:revision>2</cp:revision>
  <dcterms:created xsi:type="dcterms:W3CDTF">2013-01-27T09:14:16Z</dcterms:created>
  <dcterms:modified xsi:type="dcterms:W3CDTF">2026-02-20T06:25:20Z</dcterms:modified>
  <cp:category/>
</cp:coreProperties>
</file>